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DejaVu Sans"/>
              </a:rPr>
              <a:t>SOC CAPSTONE PART 2.8 | 10-MINUTE EXECUTIVE BRIEFING</a:t>
            </a:r>
          </a:p>
          <a:p>
            <a:r>
              <a:rPr sz="3200" b="1">
                <a:solidFill>
                  <a:srgbClr val="F8FAFC"/>
                </a:solidFill>
                <a:latin typeface="DejaVu Sans"/>
              </a:rPr>
              <a:t>Aegis Health Regional Hospital: Cyber Risk &amp;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BD5E1"/>
                </a:solidFill>
                <a:latin typeface="DejaVu Sans"/>
              </a:rPr>
              <a:t>Top 3 Risks, Proven SIEM &amp; Playbook Readiness, Board Decisions Needed, and Cost of Doing Nothing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DejaVu Sans"/>
              </a:rPr>
              <a:t>TASK 2.1 | HOSPITAL PROFILE &amp; SYSTEM CRITICALITY</a:t>
            </a:r>
          </a:p>
          <a:p>
            <a:r>
              <a:rPr sz="3200" b="1">
                <a:solidFill>
                  <a:srgbClr val="0F172A"/>
                </a:solidFill>
                <a:latin typeface="DejaVu Sans"/>
              </a:rPr>
              <a:t>EHR Outages Over 15 Minutes Threaten Patient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ICU &amp; Emergency Telemetry (SYS-01): </a:t>
            </a:r>
            <a:r>
              <a:rPr sz="1600">
                <a:solidFill>
                  <a:srgbClr val="334155"/>
                </a:solidFill>
                <a:latin typeface="DejaVu Sans"/>
              </a:rPr>
              <a:t>5 Minutes Maximum Tolerable Downtime (0 min RPO; bedside life-safety monitors)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Electronic Health Record Core (SYS-02): </a:t>
            </a:r>
            <a:r>
              <a:rPr sz="1600">
                <a:solidFill>
                  <a:srgbClr val="334155"/>
                </a:solidFill>
                <a:latin typeface="DejaVu Sans"/>
              </a:rPr>
              <a:t>15 Minutes Maximum Tolerable Downtime (5 min RPO; medication &amp; allergy charts)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Active Directory &amp; Identity Core (SYS-03): </a:t>
            </a:r>
            <a:r>
              <a:rPr sz="1600">
                <a:solidFill>
                  <a:srgbClr val="334155"/>
                </a:solidFill>
                <a:latin typeface="DejaVu Sans"/>
              </a:rPr>
              <a:t>30 Minutes Maximum Tolerable Downtime (Hospital-wide clinician SSO authentication)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Central Splunk SIEM &amp; Radiology PACS (SYS-04/05): </a:t>
            </a:r>
            <a:r>
              <a:rPr sz="1600">
                <a:solidFill>
                  <a:srgbClr val="334155"/>
                </a:solidFill>
                <a:latin typeface="DejaVu Sans"/>
              </a:rPr>
              <a:t>1 Hour Maximum Tolerable Downtime (Real-time alert correlation on 192.168.120.149)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Patient Web Portal &amp; Admin Workstations (SYS-06/07): </a:t>
            </a:r>
            <a:r>
              <a:rPr sz="1600">
                <a:solidFill>
                  <a:srgbClr val="334155"/>
                </a:solidFill>
                <a:latin typeface="DejaVu Sans"/>
              </a:rPr>
              <a:t>2 to 4 Hours Maximum Tolerable Downtime (web 192.168.120.151 &amp; DESKTOP-DTUQ6D4)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DejaVu Sans"/>
              </a:rPr>
              <a:t>TASK 2.1 | TOP 3 CYBER RISKS EXPLAINED SIMPLY</a:t>
            </a:r>
          </a:p>
          <a:p>
            <a:r>
              <a:rPr sz="3200" b="1">
                <a:solidFill>
                  <a:srgbClr val="0F172A"/>
                </a:solidFill>
                <a:latin typeface="DejaVu Sans"/>
              </a:rPr>
              <a:t>Three Attack Vectors Drive 80% of Hospital Breach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Risk R-01 — Master Password Theft from Memory (T1003.001 | Score 20/25): </a:t>
            </a:r>
            <a:r>
              <a:rPr sz="1600">
                <a:solidFill>
                  <a:srgbClr val="334155"/>
                </a:solidFill>
                <a:latin typeface="DejaVu Sans"/>
              </a:rPr>
              <a:t>Dumping lsass.exe memory on one reception PC (DESKTOP-DTUQ6D4) exposes domain admin keys to unlock the EHR Core (Detected by Part 1 Rule 04).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Risk R-02 — Built-in Tool Abuse for Ransomware Staging (T1059.001 &amp; T1105 | Score 20/25): </a:t>
            </a:r>
            <a:r>
              <a:rPr sz="1600">
                <a:solidFill>
                  <a:srgbClr val="334155"/>
                </a:solidFill>
                <a:latin typeface="DejaVu Sans"/>
              </a:rPr>
              <a:t>Attackers use Windows PowerShell (-EncodedCommand) and Certutil (-urlcache) to stage ransomware without triggering legacy antivirus (Detected by Rules 01 &amp; 08).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Risk R-03 — Password Spraying &amp; Server Backdoors (T1110 &amp; T1053.003 | Score 16/25): </a:t>
            </a:r>
            <a:r>
              <a:rPr sz="1600">
                <a:solidFill>
                  <a:srgbClr val="334155"/>
                </a:solidFill>
                <a:latin typeface="DejaVu Sans"/>
              </a:rPr>
              <a:t>Automated brute-force logins followed by hidden Linux cron jobs or rogue SSH keys on the Patient Portal web server (Detected by Rules 05, 09, 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DejaVu Sans"/>
              </a:rPr>
              <a:t>PART 1 &amp; TASK 2.2 | CURRENT DETECTION &amp; RESPONSE POSTURE</a:t>
            </a:r>
          </a:p>
          <a:p>
            <a:r>
              <a:rPr sz="3200" b="1">
                <a:solidFill>
                  <a:srgbClr val="0F172A"/>
                </a:solidFill>
                <a:latin typeface="DejaVu Sans"/>
              </a:rPr>
              <a:t>Sub-Second SIEM Telemetry &amp; 10 Behavioral Rules Are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Sub-Second Telemetry Forwarding: </a:t>
            </a:r>
            <a:r>
              <a:rPr sz="1600">
                <a:solidFill>
                  <a:srgbClr val="334155"/>
                </a:solidFill>
                <a:latin typeface="DejaVu Sans"/>
              </a:rPr>
              <a:t>Verified 1.0s delay on Windows+Sysmon, 0.638s on Linux auditd, and 0.412s on Apache Web/Firewall logs.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10 Validated Sigma &amp; SPL Behavioral Rules: </a:t>
            </a:r>
            <a:r>
              <a:rPr sz="1600">
                <a:solidFill>
                  <a:srgbClr val="334155"/>
                </a:solidFill>
                <a:latin typeface="DejaVu Sans"/>
              </a:rPr>
              <a:t>Covers 6 MITRE ATT&amp;CK tactics across Windows &amp; Linux; 0 false positives after tuning out 681 SYSTEM splunk-powershell events.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P1 Incident A Contained in 3m 40s: </a:t>
            </a:r>
            <a:r>
              <a:rPr sz="1600">
                <a:solidFill>
                  <a:srgbClr val="334155"/>
                </a:solidFill>
                <a:latin typeface="DejaVu Sans"/>
              </a:rPr>
              <a:t>6-stage attack chain detected, escalated via 6-field call, blocked via host firewall (SOC_Contain_Outbound_C2), and preserved with SHA-256 hashes.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3 Documented Telemetry Visibility Gaps: </a:t>
            </a:r>
            <a:r>
              <a:rPr sz="1600">
                <a:solidFill>
                  <a:srgbClr val="334155"/>
                </a:solidFill>
                <a:latin typeface="DejaVu Sans"/>
              </a:rPr>
              <a:t>Process Hollowing (T1055.012), Local Subnet LLMNR Poisoning (T1557.001), and Kernel Rootkits (T1014) require EDR + NDR investment.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DejaVu Sans"/>
              </a:rPr>
              <a:t>TASKS 2.4, 2.5 &amp; 2.7 | OPERATIONAL VALIDATION</a:t>
            </a:r>
          </a:p>
          <a:p>
            <a:r>
              <a:rPr sz="3200" b="1">
                <a:solidFill>
                  <a:srgbClr val="0F172A"/>
                </a:solidFill>
                <a:latin typeface="DejaVu Sans"/>
              </a:rPr>
              <a:t>External Cold Test &amp; 45-Minute Drill Proven Under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3 Operational Playbooks (PB-01 to PB-03): </a:t>
            </a:r>
            <a:r>
              <a:rPr sz="1600">
                <a:solidFill>
                  <a:srgbClr val="334155"/>
                </a:solidFill>
                <a:latin typeface="DejaVu Sans"/>
              </a:rPr>
              <a:t>Strictly &lt;= 3 pages each with 8-stage flowcharts (Trigger, Triage, Decisions, Containment, Evidence, Recovery, Communication, Closure).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External Cold Test PASSED (5m 15s vs 7m 20s Max): </a:t>
            </a:r>
            <a:r>
              <a:rPr sz="1600">
                <a:solidFill>
                  <a:srgbClr val="334155"/>
                </a:solidFill>
                <a:latin typeface="DejaVu Sans"/>
              </a:rPr>
              <a:t>A student from another team ran Playbook PB-01 solo, isolating the host in 5m 15s (&lt; 2x our 3m 40s baseline) with only 1 question (max 2 allowed).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45-Minute Tabletop Exercise (7 Injects): </a:t>
            </a:r>
            <a:r>
              <a:rPr sz="1600">
                <a:solidFill>
                  <a:srgbClr val="334155"/>
                </a:solidFill>
                <a:latin typeface="DejaVu Sans"/>
              </a:rPr>
              <a:t>Tested multi-host compromise plus 2 high-pressure injects (15 BTC Ransom Note &amp; Hostile Journalist Call with 15-minute deadline).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4 Governance Upgrades Applied (v1.2): </a:t>
            </a:r>
            <a:r>
              <a:rPr sz="1600">
                <a:solidFill>
                  <a:srgbClr val="334155"/>
                </a:solidFill>
                <a:latin typeface="DejaVu Sans"/>
              </a:rPr>
              <a:t>Cut P1 call fail-over timer to 5 minutes, added 24/7 Night Nursing Supervisor (Ext. 1111), and pre-authorized a 15-minute Media Holding Statement.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DejaVu Sans"/>
              </a:rPr>
              <a:t>TASK 2.8 | FINANCIAL &amp; CLINICAL IMPACT MODEL</a:t>
            </a:r>
          </a:p>
          <a:p>
            <a:r>
              <a:rPr sz="3200" b="1">
                <a:solidFill>
                  <a:srgbClr val="0F172A"/>
                </a:solidFill>
                <a:latin typeface="DejaVu Sans"/>
              </a:rPr>
              <a:t>Doing Nothing Exposes Aegis Health to a $1.13M Baseline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48-Hour Clinical &amp; EHR Downtime ($696,000): </a:t>
            </a:r>
            <a:r>
              <a:rPr sz="1600">
                <a:solidFill>
                  <a:srgbClr val="334155"/>
                </a:solidFill>
                <a:latin typeface="DejaVu Sans"/>
              </a:rPr>
              <a:t>48 hours x $14,500/hr in ambulance diversion, canceled elective procedures, and manual charting overtime (Source: Ponemon / Censinet Healthcare Benchmark).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Emergency Forensics &amp; System Rebuilding ($180,000): </a:t>
            </a:r>
            <a:r>
              <a:rPr sz="1600">
                <a:solidFill>
                  <a:srgbClr val="334155"/>
                </a:solidFill>
                <a:latin typeface="DejaVu Sans"/>
              </a:rPr>
              <a:t>250 hours of un-retainered emergency IR at $450/hr ($112.5k) plus re-imaging 150 clinical terminals and AD recovery ($67.5k).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Regulatory Fines &amp; Patient Notification ($250,000): </a:t>
            </a:r>
            <a:r>
              <a:rPr sz="1600">
                <a:solidFill>
                  <a:srgbClr val="334155"/>
                </a:solidFill>
                <a:latin typeface="DejaVu Sans"/>
              </a:rPr>
              <a:t>PDPL / MoH statutory fines + notification for 25,000 patient records at $10/record (Conservative vs. IBM 2024 Healthcare Breach avg of $9.77M).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Total Baseline Cost of Inaction: $1,126,000: </a:t>
            </a:r>
            <a:r>
              <a:rPr sz="1600">
                <a:solidFill>
                  <a:srgbClr val="334155"/>
                </a:solidFill>
                <a:latin typeface="DejaVu Sans"/>
              </a:rPr>
              <a:t>Compared against a $42,000 annual preventative investment, proactive remediation delivers a 26.8x Return on Security Investment (ROSI).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  <a:latin typeface="DejaVu Sans"/>
              </a:rPr>
              <a:t>TASK 2.8 | ACTIONABLE BOARD RECOMMENDATIONS</a:t>
            </a:r>
          </a:p>
          <a:p>
            <a:r>
              <a:rPr sz="3200" b="1">
                <a:solidFill>
                  <a:srgbClr val="0F172A"/>
                </a:solidFill>
                <a:latin typeface="DejaVu Sans"/>
              </a:rPr>
              <a:t>Three Executive Decisions Needed Today ($42,000 Total)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Decision 1 — Approve Enterprise GPO Hardening ($0 | 7 Days): </a:t>
            </a:r>
            <a:r>
              <a:rPr sz="1600">
                <a:solidFill>
                  <a:srgbClr val="334155"/>
                </a:solidFill>
                <a:latin typeface="DejaVu Sans"/>
              </a:rPr>
              <a:t>Mandate Windows LSA Protection (RunAsPPL=1), PowerShell Constrained Language Mode, and disable LLMNR/NetBIOS across all 620 hospital PCs.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Decision 2 — Fund Endpoint EDR + Zeek NDR Sensor ($30,000/yr | 30 Days): </a:t>
            </a:r>
            <a:r>
              <a:rPr sz="1600">
                <a:solidFill>
                  <a:srgbClr val="334155"/>
                </a:solidFill>
                <a:latin typeface="DejaVu Sans"/>
              </a:rPr>
              <a:t>Deploy kernel memory scanning on 620 endpoints and 1 SPAN-port Zeek NDR sensor to close T1055.012 Process Hollowing and T1557.001 gaps.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DejaVu Sans"/>
              </a:rPr>
              <a:t>• Decision 3 — Mandate Hospital MFA &amp; 24/7 IR Retainer ($12,000/yr | 14 Days): </a:t>
            </a:r>
            <a:r>
              <a:rPr sz="1600">
                <a:solidFill>
                  <a:srgbClr val="334155"/>
                </a:solidFill>
                <a:latin typeface="DejaVu Sans"/>
              </a:rPr>
              <a:t>Enforce MFA + 5-attempt lockout on all privileged/remote accounts and sign a pre-negotiated &lt;1hr SLA forensic retainer.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DejaVu Sans"/>
              </a:rPr>
              <a:t>Resilient cyber readiness keeps every hospital ward open and every patient 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